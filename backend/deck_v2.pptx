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857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57500"/>
            <a:ext cx="12191695" cy="5715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96247" y="4762500"/>
            <a:ext cx="2095447" cy="2095500"/>
          </a:xfrm>
          <a:prstGeom prst="rect">
            <a:avLst/>
          </a:prstGeom>
          <a:solidFill>
            <a:srgbClr val="EB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1428750"/>
            <a:ext cx="10743931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E0A52B"/>
                </a:solidFill>
                <a:latin typeface="微软雅黑"/>
                <a:ea typeface="微软雅黑"/>
              </a:rPr>
              <a:t>KEYNOTE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881" y="2000250"/>
            <a:ext cx="10743931" cy="1215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350" b="1">
                <a:solidFill>
                  <a:srgbClr val="C0392B"/>
                </a:solidFill>
                <a:latin typeface="微软雅黑"/>
                <a:ea typeface="微软雅黑"/>
              </a:rPr>
              <a:t>中小学消防安全教育主题班会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980" y="2781300"/>
            <a:ext cx="800079" cy="5715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881" y="2990850"/>
            <a:ext cx="10743931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8A8A8A"/>
                </a:solidFill>
                <a:latin typeface="微软雅黑"/>
                <a:ea typeface="微软雅黑"/>
              </a:rPr>
              <a:t>珍爱生命 远离火灾 平安成长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881" y="5943600"/>
            <a:ext cx="3809904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8A8A8A"/>
                </a:solidFill>
                <a:latin typeface="微软雅黑"/>
                <a:ea typeface="微软雅黑"/>
              </a:rPr>
              <a:t>汇报单位：____________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881" y="6172200"/>
            <a:ext cx="3809904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8A8A8A"/>
                </a:solidFill>
                <a:latin typeface="微软雅黑"/>
                <a:ea typeface="微软雅黑"/>
              </a:rPr>
              <a:t>汇报时间：____________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微软雅黑"/>
                <a:ea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297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62980" y="0"/>
            <a:ext cx="1428714" cy="142875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881" y="723900"/>
            <a:ext cx="10743931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0392B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238250"/>
            <a:ext cx="2857428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E0A52B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980" y="1485900"/>
            <a:ext cx="609584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881" y="1809750"/>
            <a:ext cx="666733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37A70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13" y="1962150"/>
            <a:ext cx="9886702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1">
                <a:solidFill>
                  <a:srgbClr val="2B2B2B"/>
                </a:solidFill>
                <a:latin typeface="微软雅黑"/>
                <a:ea typeface="微软雅黑"/>
              </a:rPr>
              <a:t>认识火灾的危害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6813" y="2286000"/>
            <a:ext cx="9886702" cy="19050"/>
          </a:xfrm>
          <a:prstGeom prst="rect">
            <a:avLst/>
          </a:prstGeom>
          <a:solidFill>
            <a:srgbClr val="CDC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881" y="2686050"/>
            <a:ext cx="666733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37A7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6813" y="2838450"/>
            <a:ext cx="9886702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1">
                <a:solidFill>
                  <a:srgbClr val="2B2B2B"/>
                </a:solidFill>
                <a:latin typeface="微软雅黑"/>
                <a:ea typeface="微软雅黑"/>
              </a:rPr>
              <a:t>学会正确逃生自救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6813" y="3162300"/>
            <a:ext cx="9886702" cy="19050"/>
          </a:xfrm>
          <a:prstGeom prst="rect">
            <a:avLst/>
          </a:prstGeom>
          <a:solidFill>
            <a:srgbClr val="CDC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857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57500"/>
            <a:ext cx="12191695" cy="5715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96247" y="4762500"/>
            <a:ext cx="2095447" cy="2095500"/>
          </a:xfrm>
          <a:prstGeom prst="rect">
            <a:avLst/>
          </a:prstGeom>
          <a:solidFill>
            <a:srgbClr val="EB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2000250"/>
            <a:ext cx="3809904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1">
                <a:solidFill>
                  <a:srgbClr val="E0A52B"/>
                </a:solidFill>
                <a:latin typeface="微软雅黑"/>
                <a:ea typeface="微软雅黑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881" y="2381250"/>
            <a:ext cx="4952876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8A8A8A"/>
                </a:solidFill>
                <a:latin typeface="微软雅黑"/>
                <a:ea typeface="微软雅黑"/>
              </a:rPr>
              <a:t>共 2 个部分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857500"/>
            <a:ext cx="10858228" cy="314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0" b="1">
                <a:solidFill>
                  <a:srgbClr val="ECD09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881" y="4095750"/>
            <a:ext cx="10743931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0392B"/>
                </a:solidFill>
                <a:latin typeface="微软雅黑"/>
                <a:ea typeface="微软雅黑"/>
              </a:rPr>
              <a:t>认识火灾的危害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297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62980" y="0"/>
            <a:ext cx="1428714" cy="142875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881" y="628650"/>
            <a:ext cx="285742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872" y="552450"/>
            <a:ext cx="8838978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8A8A8A"/>
                </a:solidFill>
                <a:latin typeface="微软雅黑"/>
                <a:ea typeface="微软雅黑"/>
              </a:rPr>
              <a:t>认识火灾的危害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24841" y="552450"/>
            <a:ext cx="1142971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75" b="0">
                <a:solidFill>
                  <a:srgbClr val="8A8A8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881" y="876300"/>
            <a:ext cx="10743931" cy="54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1">
                <a:solidFill>
                  <a:srgbClr val="C0392B"/>
                </a:solidFill>
                <a:latin typeface="微软雅黑"/>
                <a:ea typeface="微软雅黑"/>
              </a:rPr>
              <a:t>火灾为什么可怕</a:t>
            </a:r>
          </a:p>
        </p:txBody>
      </p:sp>
      <p:sp>
        <p:nvSpPr>
          <p:cNvPr id="9" name="Rectangle 8"/>
          <p:cNvSpPr/>
          <p:nvPr/>
        </p:nvSpPr>
        <p:spPr>
          <a:xfrm>
            <a:off x="723881" y="1247775"/>
            <a:ext cx="571485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881" y="1438275"/>
            <a:ext cx="10743931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微软雅黑"/>
                <a:ea typeface="微软雅黑"/>
              </a:rPr>
              <a:t>火灾往往在几分钟内蔓延，有毒烟气比明火更致命。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881" y="1866900"/>
            <a:ext cx="323841" cy="323850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881" y="1924050"/>
            <a:ext cx="323841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169" y="1914525"/>
            <a:ext cx="9943851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室内起火 3 分钟即可形成猛烈燃烧，温度可达数百摄氏度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9169" y="2286000"/>
            <a:ext cx="9943851" cy="9525"/>
          </a:xfrm>
          <a:prstGeom prst="rect">
            <a:avLst/>
          </a:prstGeom>
          <a:solidFill>
            <a:srgbClr val="DA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3881" y="2457450"/>
            <a:ext cx="323841" cy="323850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881" y="2514600"/>
            <a:ext cx="323841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169" y="2505075"/>
            <a:ext cx="9943851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火场中多数遇难者是因吸入有毒烟气而非烧伤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9169" y="2876550"/>
            <a:ext cx="9943851" cy="9525"/>
          </a:xfrm>
          <a:prstGeom prst="rect">
            <a:avLst/>
          </a:prstGeom>
          <a:solidFill>
            <a:srgbClr val="DA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3881" y="3048000"/>
            <a:ext cx="323841" cy="323850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881" y="3105150"/>
            <a:ext cx="323841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169" y="3095625"/>
            <a:ext cx="9943851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浓烟会让人在几十秒内失去判断力和逃生能力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19169" y="3467100"/>
            <a:ext cx="9943851" cy="9525"/>
          </a:xfrm>
          <a:prstGeom prst="rect">
            <a:avLst/>
          </a:prstGeom>
          <a:solidFill>
            <a:srgbClr val="DA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3881" y="3638550"/>
            <a:ext cx="323841" cy="323850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881" y="3695700"/>
            <a:ext cx="323841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169" y="3686175"/>
            <a:ext cx="9943851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高层建筑火灾蔓延快、扑救难、疏散距离长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9169" y="4057650"/>
            <a:ext cx="9943851" cy="9525"/>
          </a:xfrm>
          <a:prstGeom prst="rect">
            <a:avLst/>
          </a:prstGeom>
          <a:solidFill>
            <a:srgbClr val="DA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3881" y="4229100"/>
            <a:ext cx="323841" cy="323850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881" y="4286250"/>
            <a:ext cx="323841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169" y="4276725"/>
            <a:ext cx="9943851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电气火灾和用火不慎是校园火灾的两大主因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297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62980" y="0"/>
            <a:ext cx="1428714" cy="142875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881" y="628650"/>
            <a:ext cx="285742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872" y="552450"/>
            <a:ext cx="8838978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8A8A8A"/>
                </a:solidFill>
                <a:latin typeface="微软雅黑"/>
                <a:ea typeface="微软雅黑"/>
              </a:rPr>
              <a:t>认识火灾的危害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24841" y="552450"/>
            <a:ext cx="1142971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75" b="0">
                <a:solidFill>
                  <a:srgbClr val="8A8A8A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881" y="876300"/>
            <a:ext cx="10743931" cy="54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1">
                <a:solidFill>
                  <a:srgbClr val="C0392B"/>
                </a:solidFill>
                <a:latin typeface="微软雅黑"/>
                <a:ea typeface="微软雅黑"/>
              </a:rPr>
              <a:t>一句话记住</a:t>
            </a:r>
          </a:p>
        </p:txBody>
      </p:sp>
      <p:sp>
        <p:nvSpPr>
          <p:cNvPr id="9" name="Rectangle 8"/>
          <p:cNvSpPr/>
          <p:nvPr/>
        </p:nvSpPr>
        <p:spPr>
          <a:xfrm>
            <a:off x="723881" y="1247775"/>
            <a:ext cx="571485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3881" y="1495425"/>
            <a:ext cx="76198" cy="19050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674" y="1362075"/>
            <a:ext cx="571485" cy="1341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D6847A"/>
                </a:solidFill>
                <a:latin typeface="微软雅黑"/>
                <a:ea typeface="微软雅黑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23" y="1876425"/>
            <a:ext cx="10172445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2B2B2B"/>
                </a:solidFill>
                <a:latin typeface="微软雅黑"/>
                <a:ea typeface="微软雅黑"/>
              </a:rPr>
              <a:t>遇到火灾，逃生永远比抢救财物重要，生命只有一次。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297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62980" y="0"/>
            <a:ext cx="1428714" cy="142875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881" y="628650"/>
            <a:ext cx="285742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872" y="552450"/>
            <a:ext cx="8838978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8A8A8A"/>
                </a:solidFill>
                <a:latin typeface="微软雅黑"/>
                <a:ea typeface="微软雅黑"/>
              </a:rPr>
              <a:t>认识火灾的危害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24841" y="552450"/>
            <a:ext cx="1142971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75" b="0">
                <a:solidFill>
                  <a:srgbClr val="8A8A8A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881" y="876300"/>
            <a:ext cx="10743931" cy="54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1">
                <a:solidFill>
                  <a:srgbClr val="C0392B"/>
                </a:solidFill>
                <a:latin typeface="微软雅黑"/>
                <a:ea typeface="微软雅黑"/>
              </a:rPr>
              <a:t>校园三大隐患</a:t>
            </a:r>
          </a:p>
        </p:txBody>
      </p:sp>
      <p:sp>
        <p:nvSpPr>
          <p:cNvPr id="9" name="Rectangle 8"/>
          <p:cNvSpPr/>
          <p:nvPr/>
        </p:nvSpPr>
        <p:spPr>
          <a:xfrm>
            <a:off x="723881" y="1247775"/>
            <a:ext cx="571485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3881" y="1438275"/>
            <a:ext cx="3400339" cy="47720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9050">
            <a:solidFill>
              <a:srgbClr val="F6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19269" y="1685925"/>
            <a:ext cx="419089" cy="4191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9269" y="1762125"/>
            <a:ext cx="419089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25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77" y="2314575"/>
            <a:ext cx="3019349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实验室易燃化学品存放不规范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915" y="1438275"/>
            <a:ext cx="3400339" cy="47720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9050">
            <a:solidFill>
              <a:srgbClr val="F6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86302" y="1685925"/>
            <a:ext cx="419089" cy="4191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86302" y="1762125"/>
            <a:ext cx="419089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25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410" y="2314575"/>
            <a:ext cx="3019349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宿舍违规使用大功率电器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7473" y="1438275"/>
            <a:ext cx="3400339" cy="47720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19050">
            <a:solidFill>
              <a:srgbClr val="F6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53336" y="1685925"/>
            <a:ext cx="419089" cy="4191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3336" y="1762125"/>
            <a:ext cx="419089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25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968" y="2314575"/>
            <a:ext cx="3019349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疏散通道被堵、消防门上锁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857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57500"/>
            <a:ext cx="12191695" cy="5715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96247" y="4762500"/>
            <a:ext cx="2095447" cy="2095500"/>
          </a:xfrm>
          <a:prstGeom prst="rect">
            <a:avLst/>
          </a:prstGeom>
          <a:solidFill>
            <a:srgbClr val="EB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2000250"/>
            <a:ext cx="3809904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1">
                <a:solidFill>
                  <a:srgbClr val="E0A52B"/>
                </a:solidFill>
                <a:latin typeface="微软雅黑"/>
                <a:ea typeface="微软雅黑"/>
              </a:rPr>
              <a:t>PART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881" y="2381250"/>
            <a:ext cx="4952876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0">
                <a:solidFill>
                  <a:srgbClr val="8A8A8A"/>
                </a:solidFill>
                <a:latin typeface="微软雅黑"/>
                <a:ea typeface="微软雅黑"/>
              </a:rPr>
              <a:t>共 2 个部分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857500"/>
            <a:ext cx="10858228" cy="3143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0" b="1">
                <a:solidFill>
                  <a:srgbClr val="ECD09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881" y="4095750"/>
            <a:ext cx="10743931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0392B"/>
                </a:solidFill>
                <a:latin typeface="微软雅黑"/>
                <a:ea typeface="微软雅黑"/>
              </a:rPr>
              <a:t>学会正确逃生自救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297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62980" y="0"/>
            <a:ext cx="1428714" cy="142875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881" y="628650"/>
            <a:ext cx="285742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872" y="552450"/>
            <a:ext cx="8838978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8A8A8A"/>
                </a:solidFill>
                <a:latin typeface="微软雅黑"/>
                <a:ea typeface="微软雅黑"/>
              </a:rPr>
              <a:t>学会正确逃生自救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24841" y="552450"/>
            <a:ext cx="1142971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75" b="0">
                <a:solidFill>
                  <a:srgbClr val="8A8A8A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881" y="876300"/>
            <a:ext cx="10743931" cy="54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1">
                <a:solidFill>
                  <a:srgbClr val="C0392B"/>
                </a:solidFill>
                <a:latin typeface="微软雅黑"/>
                <a:ea typeface="微软雅黑"/>
              </a:rPr>
              <a:t>发现火情第一时间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723881" y="1247775"/>
            <a:ext cx="571485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3881" y="1457325"/>
            <a:ext cx="323841" cy="323850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881" y="1514475"/>
            <a:ext cx="323841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169" y="1514475"/>
            <a:ext cx="9943851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大声呼喊提醒他人并按下手动报警器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9169" y="1876425"/>
            <a:ext cx="9943851" cy="9525"/>
          </a:xfrm>
          <a:prstGeom prst="rect">
            <a:avLst/>
          </a:prstGeom>
          <a:solidFill>
            <a:srgbClr val="DA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3881" y="2047875"/>
            <a:ext cx="323841" cy="323850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881" y="2105025"/>
            <a:ext cx="323841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169" y="2105025"/>
            <a:ext cx="9943851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拨打 119 说清学校名称楼层部位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19169" y="2466975"/>
            <a:ext cx="9943851" cy="9525"/>
          </a:xfrm>
          <a:prstGeom prst="rect">
            <a:avLst/>
          </a:prstGeom>
          <a:solidFill>
            <a:srgbClr val="DA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3881" y="2638425"/>
            <a:ext cx="323841" cy="323850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881" y="2695575"/>
            <a:ext cx="323841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169" y="2695575"/>
            <a:ext cx="9943851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湿毛巾捂口鼻，弯腰低姿沿指示撤离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9169" y="3057525"/>
            <a:ext cx="9943851" cy="9525"/>
          </a:xfrm>
          <a:prstGeom prst="rect">
            <a:avLst/>
          </a:prstGeom>
          <a:solidFill>
            <a:srgbClr val="DA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3881" y="3228975"/>
            <a:ext cx="323841" cy="323850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3881" y="3286125"/>
            <a:ext cx="323841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169" y="3286125"/>
            <a:ext cx="9943851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  <a:ea typeface="微软雅黑"/>
              </a:rPr>
              <a:t>不乘电梯、不返回火场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297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62980" y="0"/>
            <a:ext cx="1428714" cy="142875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881" y="628650"/>
            <a:ext cx="285742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872" y="552450"/>
            <a:ext cx="8838978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8A8A8A"/>
                </a:solidFill>
                <a:latin typeface="微软雅黑"/>
                <a:ea typeface="微软雅黑"/>
              </a:rPr>
              <a:t>学会正确逃生自救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24841" y="552450"/>
            <a:ext cx="1142971" cy="27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75" b="0">
                <a:solidFill>
                  <a:srgbClr val="8A8A8A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881" y="876300"/>
            <a:ext cx="10743931" cy="54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1">
                <a:solidFill>
                  <a:srgbClr val="C0392B"/>
                </a:solidFill>
                <a:latin typeface="微软雅黑"/>
                <a:ea typeface="微软雅黑"/>
              </a:rPr>
              <a:t>两个关键动作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23881" y="1247775"/>
            <a:ext cx="571485" cy="381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3881" y="1438275"/>
            <a:ext cx="5219569" cy="4772025"/>
          </a:xfrm>
          <a:prstGeom prst="roundRect">
            <a:avLst>
              <a:gd name="adj" fmla="val 2554"/>
            </a:avLst>
          </a:prstGeom>
          <a:solidFill>
            <a:srgbClr val="FFFFFF"/>
          </a:solidFill>
          <a:ln w="19050">
            <a:solidFill>
              <a:srgbClr val="F6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3881" y="1438275"/>
            <a:ext cx="5219569" cy="76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575" y="1762125"/>
            <a:ext cx="457188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3746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75" y="2466975"/>
            <a:ext cx="4686182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2B2B2B"/>
                </a:solidFill>
                <a:latin typeface="微软雅黑"/>
                <a:ea typeface="微软雅黑"/>
              </a:rPr>
              <a:t>关门断火：逃生时随手关闭房门可延缓火势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243" y="1438275"/>
            <a:ext cx="5219569" cy="4772025"/>
          </a:xfrm>
          <a:prstGeom prst="roundRect">
            <a:avLst>
              <a:gd name="adj" fmla="val 2554"/>
            </a:avLst>
          </a:prstGeom>
          <a:solidFill>
            <a:srgbClr val="FFFFFF"/>
          </a:solidFill>
          <a:ln w="19050">
            <a:solidFill>
              <a:srgbClr val="F6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8243" y="1438275"/>
            <a:ext cx="5219569" cy="7620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4937" y="1762125"/>
            <a:ext cx="457188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3746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4937" y="2466975"/>
            <a:ext cx="4686182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2B2B2B"/>
                </a:solidFill>
                <a:latin typeface="微软雅黑"/>
                <a:ea typeface="微软雅黑"/>
              </a:rPr>
              <a:t>低姿前行：贴近地面空气相对清新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857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57500"/>
            <a:ext cx="12191695" cy="5715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96247" y="4762500"/>
            <a:ext cx="2095447" cy="2095500"/>
          </a:xfrm>
          <a:prstGeom prst="rect">
            <a:avLst/>
          </a:prstGeom>
          <a:solidFill>
            <a:srgbClr val="EBC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881" y="2476500"/>
            <a:ext cx="10743931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1">
                <a:solidFill>
                  <a:srgbClr val="E0A52B"/>
                </a:solidFill>
                <a:latin typeface="微软雅黑"/>
                <a:ea typeface="微软雅黑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881" y="2857500"/>
            <a:ext cx="10743931" cy="1215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350" b="1">
                <a:solidFill>
                  <a:srgbClr val="C0392B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980" y="3714750"/>
            <a:ext cx="800079" cy="57150"/>
          </a:xfrm>
          <a:prstGeom prst="rect">
            <a:avLst/>
          </a:prstGeom>
          <a:solidFill>
            <a:srgbClr val="E0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881" y="3943350"/>
            <a:ext cx="10743931" cy="39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8A8A8A"/>
                </a:solidFill>
                <a:latin typeface="微软雅黑"/>
                <a:ea typeface="微软雅黑"/>
              </a:rPr>
              <a:t>中小学消防安全教育主题班会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